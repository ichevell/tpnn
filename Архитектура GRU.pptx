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1B43A-F3D8-F216-8BA7-C05BF9A8DAFC}" v="263" dt="2026-04-14T05:04:48.060"/>
    <p1510:client id="{41A8063F-7AE1-4625-D9AA-D197B3D32857}" v="3" dt="2026-04-14T09:58:53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D313860-A922-4FA4-B5E2-E8871F10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3466" y="753626"/>
            <a:ext cx="5334930" cy="3004145"/>
          </a:xfrm>
        </p:spPr>
        <p:txBody>
          <a:bodyPr>
            <a:normAutofit/>
          </a:bodyPr>
          <a:lstStyle/>
          <a:p>
            <a:r>
              <a:rPr lang="ru-RU"/>
              <a:t>Архитектура GRU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43465" y="3849845"/>
            <a:ext cx="5334931" cy="2189214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D0FBFA-B43E-40C1-A6E4-B8823417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4341" y="1164128"/>
            <a:ext cx="569514" cy="569514"/>
          </a:xfrm>
          <a:prstGeom prst="ellipse">
            <a:avLst/>
          </a:prstGeom>
          <a:noFill/>
          <a:ln w="1016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9ACE06-2742-4366-B8DD-B1D27F4F3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2879" y="0"/>
            <a:ext cx="2123415" cy="1422481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5" name="Рисунок 4" descr="Openai, ChatGPT Logo Icon 24558807 PNG">
            <a:extLst>
              <a:ext uri="{FF2B5EF4-FFF2-40B4-BE49-F238E27FC236}">
                <a16:creationId xmlns:a16="http://schemas.microsoft.com/office/drawing/2014/main" id="{7E99F0CD-D027-C7ED-1A42-63C9E9F014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6" b="-6"/>
          <a:stretch>
            <a:fillRect/>
          </a:stretch>
        </p:blipFill>
        <p:spPr>
          <a:xfrm>
            <a:off x="6610266" y="2150583"/>
            <a:ext cx="3240592" cy="3240592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pic>
        <p:nvPicPr>
          <p:cNvPr id="4" name="Рисунок 3" descr="Openai, ChatGPT Logo Icon 24558807 PNG">
            <a:extLst>
              <a:ext uri="{FF2B5EF4-FFF2-40B4-BE49-F238E27FC236}">
                <a16:creationId xmlns:a16="http://schemas.microsoft.com/office/drawing/2014/main" id="{0A0F46A9-E60A-1E1D-A07C-67C0F5F8CA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6" r="2798"/>
          <a:stretch>
            <a:fillRect/>
          </a:stretch>
        </p:blipFill>
        <p:spPr>
          <a:xfrm>
            <a:off x="9490670" y="10"/>
            <a:ext cx="2701330" cy="2860786"/>
          </a:xfrm>
          <a:custGeom>
            <a:avLst/>
            <a:gdLst/>
            <a:ahLst/>
            <a:cxnLst/>
            <a:rect l="l" t="t" r="r" b="b"/>
            <a:pathLst>
              <a:path w="2701330" h="2860796">
                <a:moveTo>
                  <a:pt x="1381637" y="0"/>
                </a:moveTo>
                <a:lnTo>
                  <a:pt x="1481685" y="0"/>
                </a:lnTo>
                <a:lnTo>
                  <a:pt x="1578040" y="4866"/>
                </a:lnTo>
                <a:cubicBezTo>
                  <a:pt x="2059323" y="53742"/>
                  <a:pt x="2470132" y="341007"/>
                  <a:pt x="2690528" y="746720"/>
                </a:cubicBezTo>
                <a:lnTo>
                  <a:pt x="2701330" y="769143"/>
                </a:lnTo>
                <a:lnTo>
                  <a:pt x="2701330" y="2089127"/>
                </a:lnTo>
                <a:lnTo>
                  <a:pt x="2690528" y="2111550"/>
                </a:lnTo>
                <a:cubicBezTo>
                  <a:pt x="2448092" y="2557835"/>
                  <a:pt x="1975257" y="2860796"/>
                  <a:pt x="1431661" y="2860796"/>
                </a:cubicBezTo>
                <a:cubicBezTo>
                  <a:pt x="640976" y="2860796"/>
                  <a:pt x="0" y="2219820"/>
                  <a:pt x="0" y="1429135"/>
                </a:cubicBezTo>
                <a:cubicBezTo>
                  <a:pt x="0" y="687868"/>
                  <a:pt x="563358" y="78181"/>
                  <a:pt x="1285282" y="4866"/>
                </a:cubicBezTo>
                <a:close/>
              </a:path>
            </a:pathLst>
          </a:cu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054EDF5-7644-4A95-AB88-057FAB414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05035" y="3681981"/>
            <a:ext cx="0" cy="1597708"/>
          </a:xfrm>
          <a:prstGeom prst="line">
            <a:avLst/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802AE7A-B0C7-496D-940B-0E6C6ECC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29646" y="3416839"/>
            <a:ext cx="662355" cy="1616463"/>
          </a:xfrm>
          <a:custGeom>
            <a:avLst/>
            <a:gdLst>
              <a:gd name="connsiteX0" fmla="*/ 662355 w 662355"/>
              <a:gd name="connsiteY0" fmla="*/ 0 h 1616463"/>
              <a:gd name="connsiteX1" fmla="*/ 662355 w 662355"/>
              <a:gd name="connsiteY1" fmla="*/ 1616463 h 1616463"/>
              <a:gd name="connsiteX2" fmla="*/ 658212 w 662355"/>
              <a:gd name="connsiteY2" fmla="*/ 1615830 h 1616463"/>
              <a:gd name="connsiteX3" fmla="*/ 0 w 662355"/>
              <a:gd name="connsiteY3" fmla="*/ 808231 h 1616463"/>
              <a:gd name="connsiteX4" fmla="*/ 658212 w 662355"/>
              <a:gd name="connsiteY4" fmla="*/ 632 h 1616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2355" h="1616463">
                <a:moveTo>
                  <a:pt x="662355" y="0"/>
                </a:moveTo>
                <a:lnTo>
                  <a:pt x="662355" y="1616463"/>
                </a:lnTo>
                <a:lnTo>
                  <a:pt x="658212" y="1615830"/>
                </a:lnTo>
                <a:cubicBezTo>
                  <a:pt x="282572" y="1538963"/>
                  <a:pt x="0" y="1206596"/>
                  <a:pt x="0" y="808231"/>
                </a:cubicBezTo>
                <a:cubicBezTo>
                  <a:pt x="0" y="409866"/>
                  <a:pt x="282572" y="77499"/>
                  <a:pt x="658212" y="632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2DD1B47-C36B-4A09-A1B5-80A512623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29646" y="3416839"/>
            <a:ext cx="662355" cy="1616463"/>
          </a:xfrm>
          <a:custGeom>
            <a:avLst/>
            <a:gdLst>
              <a:gd name="connsiteX0" fmla="*/ 662355 w 662355"/>
              <a:gd name="connsiteY0" fmla="*/ 0 h 1616463"/>
              <a:gd name="connsiteX1" fmla="*/ 662355 w 662355"/>
              <a:gd name="connsiteY1" fmla="*/ 1616463 h 1616463"/>
              <a:gd name="connsiteX2" fmla="*/ 658212 w 662355"/>
              <a:gd name="connsiteY2" fmla="*/ 1615830 h 1616463"/>
              <a:gd name="connsiteX3" fmla="*/ 0 w 662355"/>
              <a:gd name="connsiteY3" fmla="*/ 808231 h 1616463"/>
              <a:gd name="connsiteX4" fmla="*/ 658212 w 662355"/>
              <a:gd name="connsiteY4" fmla="*/ 632 h 1616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2355" h="1616463">
                <a:moveTo>
                  <a:pt x="662355" y="0"/>
                </a:moveTo>
                <a:lnTo>
                  <a:pt x="662355" y="1616463"/>
                </a:lnTo>
                <a:lnTo>
                  <a:pt x="658212" y="1615830"/>
                </a:lnTo>
                <a:cubicBezTo>
                  <a:pt x="282572" y="1538963"/>
                  <a:pt x="0" y="1206596"/>
                  <a:pt x="0" y="808231"/>
                </a:cubicBezTo>
                <a:cubicBezTo>
                  <a:pt x="0" y="409866"/>
                  <a:pt x="282572" y="77499"/>
                  <a:pt x="658212" y="632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ECD5C35-80E8-449F-8C7F-64975DE63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2879" y="6306952"/>
            <a:ext cx="1454378" cy="551049"/>
          </a:xfrm>
          <a:custGeom>
            <a:avLst/>
            <a:gdLst>
              <a:gd name="connsiteX0" fmla="*/ 780476 w 1560952"/>
              <a:gd name="connsiteY0" fmla="*/ 0 h 591429"/>
              <a:gd name="connsiteX1" fmla="*/ 1525548 w 1560952"/>
              <a:gd name="connsiteY1" fmla="*/ 480469 h 591429"/>
              <a:gd name="connsiteX2" fmla="*/ 1560952 w 1560952"/>
              <a:gd name="connsiteY2" fmla="*/ 591429 h 591429"/>
              <a:gd name="connsiteX3" fmla="*/ 0 w 1560952"/>
              <a:gd name="connsiteY3" fmla="*/ 591429 h 591429"/>
              <a:gd name="connsiteX4" fmla="*/ 35404 w 1560952"/>
              <a:gd name="connsiteY4" fmla="*/ 480469 h 591429"/>
              <a:gd name="connsiteX5" fmla="*/ 780476 w 1560952"/>
              <a:gd name="connsiteY5" fmla="*/ 0 h 59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0952" h="591429">
                <a:moveTo>
                  <a:pt x="780476" y="0"/>
                </a:moveTo>
                <a:cubicBezTo>
                  <a:pt x="1115417" y="0"/>
                  <a:pt x="1402793" y="198118"/>
                  <a:pt x="1525548" y="480469"/>
                </a:cubicBezTo>
                <a:lnTo>
                  <a:pt x="1560952" y="591429"/>
                </a:lnTo>
                <a:lnTo>
                  <a:pt x="0" y="591429"/>
                </a:lnTo>
                <a:lnTo>
                  <a:pt x="35404" y="480469"/>
                </a:lnTo>
                <a:cubicBezTo>
                  <a:pt x="158159" y="198118"/>
                  <a:pt x="445536" y="0"/>
                  <a:pt x="7804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998F233-1684-4EF1-9F9C-0F8EA27B0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261598">
            <a:off x="6908614" y="5665643"/>
            <a:ext cx="1780023" cy="1237913"/>
          </a:xfrm>
          <a:custGeom>
            <a:avLst/>
            <a:gdLst>
              <a:gd name="connsiteX0" fmla="*/ 1585229 w 1780023"/>
              <a:gd name="connsiteY0" fmla="*/ 764759 h 1237913"/>
              <a:gd name="connsiteX1" fmla="*/ 1623024 w 1780023"/>
              <a:gd name="connsiteY1" fmla="*/ 792810 h 1237913"/>
              <a:gd name="connsiteX2" fmla="*/ 1777614 w 1780023"/>
              <a:gd name="connsiteY2" fmla="*/ 1157141 h 1237913"/>
              <a:gd name="connsiteX3" fmla="*/ 1733799 w 1780023"/>
              <a:gd name="connsiteY3" fmla="*/ 1235532 h 1237913"/>
              <a:gd name="connsiteX4" fmla="*/ 1716464 w 1780023"/>
              <a:gd name="connsiteY4" fmla="*/ 1237722 h 1237913"/>
              <a:gd name="connsiteX5" fmla="*/ 1716464 w 1780023"/>
              <a:gd name="connsiteY5" fmla="*/ 1237913 h 1237913"/>
              <a:gd name="connsiteX6" fmla="*/ 1655409 w 1780023"/>
              <a:gd name="connsiteY6" fmla="*/ 1191717 h 1237913"/>
              <a:gd name="connsiteX7" fmla="*/ 1513200 w 1780023"/>
              <a:gd name="connsiteY7" fmla="*/ 856627 h 1237913"/>
              <a:gd name="connsiteX8" fmla="*/ 1538499 w 1780023"/>
              <a:gd name="connsiteY8" fmla="*/ 770415 h 1237913"/>
              <a:gd name="connsiteX9" fmla="*/ 1585229 w 1780023"/>
              <a:gd name="connsiteY9" fmla="*/ 764759 h 1237913"/>
              <a:gd name="connsiteX10" fmla="*/ 933455 w 1780023"/>
              <a:gd name="connsiteY10" fmla="*/ 161308 h 1237913"/>
              <a:gd name="connsiteX11" fmla="*/ 957797 w 1780023"/>
              <a:gd name="connsiteY11" fmla="*/ 167970 h 1237913"/>
              <a:gd name="connsiteX12" fmla="*/ 1286982 w 1780023"/>
              <a:gd name="connsiteY12" fmla="*/ 387616 h 1237913"/>
              <a:gd name="connsiteX13" fmla="*/ 1293725 w 1780023"/>
              <a:gd name="connsiteY13" fmla="*/ 477075 h 1237913"/>
              <a:gd name="connsiteX14" fmla="*/ 1245453 w 1780023"/>
              <a:gd name="connsiteY14" fmla="*/ 499154 h 1237913"/>
              <a:gd name="connsiteX15" fmla="*/ 1245167 w 1780023"/>
              <a:gd name="connsiteY15" fmla="*/ 499154 h 1237913"/>
              <a:gd name="connsiteX16" fmla="*/ 1203638 w 1780023"/>
              <a:gd name="connsiteY16" fmla="*/ 484104 h 1237913"/>
              <a:gd name="connsiteX17" fmla="*/ 900647 w 1780023"/>
              <a:gd name="connsiteY17" fmla="*/ 281508 h 1237913"/>
              <a:gd name="connsiteX18" fmla="*/ 872454 w 1780023"/>
              <a:gd name="connsiteY18" fmla="*/ 196164 h 1237913"/>
              <a:gd name="connsiteX19" fmla="*/ 933455 w 1780023"/>
              <a:gd name="connsiteY19" fmla="*/ 161308 h 1237913"/>
              <a:gd name="connsiteX20" fmla="*/ 454020 w 1780023"/>
              <a:gd name="connsiteY20" fmla="*/ 13474 h 1237913"/>
              <a:gd name="connsiteX21" fmla="*/ 477919 w 1780023"/>
              <a:gd name="connsiteY21" fmla="*/ 21437 h 1237913"/>
              <a:gd name="connsiteX22" fmla="*/ 509236 w 1780023"/>
              <a:gd name="connsiteY22" fmla="*/ 84182 h 1237913"/>
              <a:gd name="connsiteX23" fmla="*/ 445829 w 1780023"/>
              <a:gd name="connsiteY23" fmla="*/ 139871 h 1237913"/>
              <a:gd name="connsiteX24" fmla="*/ 437447 w 1780023"/>
              <a:gd name="connsiteY24" fmla="*/ 139395 h 1237913"/>
              <a:gd name="connsiteX25" fmla="*/ 73211 w 1780023"/>
              <a:gd name="connsiteY25" fmla="*/ 137204 h 1237913"/>
              <a:gd name="connsiteX26" fmla="*/ 749 w 1780023"/>
              <a:gd name="connsiteY26" fmla="*/ 84082 h 1237913"/>
              <a:gd name="connsiteX27" fmla="*/ 53871 w 1780023"/>
              <a:gd name="connsiteY27" fmla="*/ 11621 h 1237913"/>
              <a:gd name="connsiteX28" fmla="*/ 58352 w 1780023"/>
              <a:gd name="connsiteY28" fmla="*/ 11093 h 1237913"/>
              <a:gd name="connsiteX29" fmla="*/ 454020 w 1780023"/>
              <a:gd name="connsiteY29" fmla="*/ 13474 h 123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780023" h="1237913"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933455" y="161308"/>
                </a:moveTo>
                <a:cubicBezTo>
                  <a:pt x="941692" y="161854"/>
                  <a:pt x="949959" y="164024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49"/>
                  <a:pt x="908742" y="159670"/>
                  <a:pt x="933455" y="161308"/>
                </a:cubicBezTo>
                <a:close/>
                <a:moveTo>
                  <a:pt x="454020" y="13474"/>
                </a:moveTo>
                <a:cubicBezTo>
                  <a:pt x="462713" y="14543"/>
                  <a:pt x="470778" y="17324"/>
                  <a:pt x="477919" y="21437"/>
                </a:cubicBez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A4A4089-D056-4220-9E48-9C1A6B506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3358" y="5835650"/>
            <a:ext cx="2358642" cy="1022351"/>
          </a:xfrm>
          <a:custGeom>
            <a:avLst/>
            <a:gdLst>
              <a:gd name="connsiteX0" fmla="*/ 61913 w 2358642"/>
              <a:gd name="connsiteY0" fmla="*/ 0 h 1022351"/>
              <a:gd name="connsiteX1" fmla="*/ 2358642 w 2358642"/>
              <a:gd name="connsiteY1" fmla="*/ 0 h 1022351"/>
              <a:gd name="connsiteX2" fmla="*/ 2358642 w 2358642"/>
              <a:gd name="connsiteY2" fmla="*/ 123825 h 1022351"/>
              <a:gd name="connsiteX3" fmla="*/ 123825 w 2358642"/>
              <a:gd name="connsiteY3" fmla="*/ 123825 h 1022351"/>
              <a:gd name="connsiteX4" fmla="*/ 123825 w 2358642"/>
              <a:gd name="connsiteY4" fmla="*/ 1022351 h 1022351"/>
              <a:gd name="connsiteX5" fmla="*/ 0 w 2358642"/>
              <a:gd name="connsiteY5" fmla="*/ 1022351 h 1022351"/>
              <a:gd name="connsiteX6" fmla="*/ 0 w 2358642"/>
              <a:gd name="connsiteY6" fmla="*/ 61913 h 1022351"/>
              <a:gd name="connsiteX7" fmla="*/ 61913 w 2358642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58642" h="1022351">
                <a:moveTo>
                  <a:pt x="61913" y="0"/>
                </a:moveTo>
                <a:lnTo>
                  <a:pt x="2358642" y="0"/>
                </a:lnTo>
                <a:lnTo>
                  <a:pt x="2358642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649F95-5CFD-8E41-1D80-35D96C15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25" y="1238081"/>
            <a:ext cx="4709345" cy="962953"/>
          </a:xfrm>
        </p:spPr>
        <p:txBody>
          <a:bodyPr anchor="b">
            <a:normAutofit/>
          </a:bodyPr>
          <a:lstStyle/>
          <a:p>
            <a:r>
              <a:rPr lang="ru-RU" sz="3800"/>
              <a:t>Что такое GRU?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9F893D-A097-E172-47EF-A0A17CFE4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736" y="2508105"/>
            <a:ext cx="470934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/>
              <a:t>GRU - </a:t>
            </a:r>
            <a:r>
              <a:rPr lang="ru-RU" sz="2000">
                <a:ea typeface="+mn-lt"/>
                <a:cs typeface="+mn-lt"/>
              </a:rPr>
              <a:t>это разновидность рекуррентной нейронной сети, предназначенная для работы с последовательностями. Последовательностями могут быть временные ряды, текст, аудиосигналы, показания датчиков и любые данные, где важен порядок элементов во времени</a:t>
            </a:r>
            <a:endParaRPr lang="ru-RU" sz="2000"/>
          </a:p>
        </p:txBody>
      </p:sp>
      <p:pic>
        <p:nvPicPr>
          <p:cNvPr id="4" name="Рисунок 3" descr="Что такое нейросети и как на них зарабатывать?">
            <a:extLst>
              <a:ext uri="{FF2B5EF4-FFF2-40B4-BE49-F238E27FC236}">
                <a16:creationId xmlns:a16="http://schemas.microsoft.com/office/drawing/2014/main" id="{7F09ADA5-BAE6-0C60-93FA-82BFBBF2C8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152" r="37" b="-1"/>
          <a:stretch>
            <a:fillRect/>
          </a:stretch>
        </p:blipFill>
        <p:spPr>
          <a:xfrm>
            <a:off x="6538366" y="1383738"/>
            <a:ext cx="4929098" cy="475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8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C3A31-1083-5148-1653-73DD9BC98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ru-RU" sz="4100"/>
              <a:t>В чём её преимущества в отличии от RNN?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1E7681-6B6E-B1FA-7921-549523F32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700">
                <a:ea typeface="+mn-lt"/>
                <a:cs typeface="+mn-lt"/>
              </a:rPr>
              <a:t>В простой RNN на каждом шаге времени есть текущее входное значение и скрытое состояние с предыдущего шага. На их основе вычисляется новое скрытое состояние. Это позволяет сети учитывать прошлый контекст. Однако у простой RNN есть важная проблема: ей трудно сохранять информацию на длинных промежутках времени. При обучении возникает проблема затухания градиента, и сеть постепенно забывает то, что было много шагов назад.</a:t>
            </a:r>
            <a:endParaRPr lang="ru-RU" sz="1700"/>
          </a:p>
        </p:txBody>
      </p:sp>
      <p:pic>
        <p:nvPicPr>
          <p:cNvPr id="4" name="Рисунок 3" descr="В России создана первая отечественная генеративная нейросеть —  Всеостройке.рф">
            <a:extLst>
              <a:ext uri="{FF2B5EF4-FFF2-40B4-BE49-F238E27FC236}">
                <a16:creationId xmlns:a16="http://schemas.microsoft.com/office/drawing/2014/main" id="{022F89E9-0534-52C0-8D3E-1B7C7226D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86933"/>
            <a:ext cx="5150277" cy="29088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75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9B976-7967-F3D6-A4F8-10A509F4C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ru-RU" sz="4800"/>
              <a:t>Что такое Gates?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C43259-EEA9-9312-496E-A1CCF60D3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400" b="1">
                <a:ea typeface="+mn-lt"/>
                <a:cs typeface="+mn-lt"/>
              </a:rPr>
              <a:t>Update gate</a:t>
            </a:r>
            <a:r>
              <a:rPr lang="ru-RU" sz="1400">
                <a:ea typeface="+mn-lt"/>
                <a:cs typeface="+mn-lt"/>
              </a:rPr>
              <a:t> отвечает за то, в какой степени новая информация должна заменить старую память.</a:t>
            </a:r>
            <a:br>
              <a:rPr lang="ru-RU" sz="1400">
                <a:ea typeface="+mn-lt"/>
                <a:cs typeface="+mn-lt"/>
              </a:rPr>
            </a:br>
            <a:r>
              <a:rPr lang="ru-RU" sz="1400">
                <a:ea typeface="+mn-lt"/>
                <a:cs typeface="+mn-lt"/>
              </a:rPr>
              <a:t> Если значение update gate близко к нулю, сеть почти полностью сохраняет предыдущее скрытое состояние.</a:t>
            </a:r>
            <a:br>
              <a:rPr lang="ru-RU" sz="1400">
                <a:ea typeface="+mn-lt"/>
                <a:cs typeface="+mn-lt"/>
              </a:rPr>
            </a:br>
            <a:r>
              <a:rPr lang="ru-RU" sz="1400">
                <a:ea typeface="+mn-lt"/>
                <a:cs typeface="+mn-lt"/>
              </a:rPr>
              <a:t> Если значение близко к единице, сеть в большей степени записывает новое состояние.</a:t>
            </a:r>
            <a:br>
              <a:rPr lang="ru-RU" sz="1400">
                <a:ea typeface="+mn-lt"/>
                <a:cs typeface="+mn-lt"/>
              </a:rPr>
            </a:br>
            <a:r>
              <a:rPr lang="ru-RU" sz="1400">
                <a:ea typeface="+mn-lt"/>
                <a:cs typeface="+mn-lt"/>
              </a:rPr>
              <a:t> То есть именно update gate регулирует баланс между прошлой и новой информацией.</a:t>
            </a:r>
            <a:endParaRPr lang="ru-RU" sz="1400"/>
          </a:p>
          <a:p>
            <a:endParaRPr lang="ru-RU" sz="1400" b="1">
              <a:ea typeface="+mn-lt"/>
              <a:cs typeface="+mn-lt"/>
            </a:endParaRPr>
          </a:p>
          <a:p>
            <a:r>
              <a:rPr lang="ru-RU" sz="1400" b="1">
                <a:ea typeface="+mn-lt"/>
                <a:cs typeface="+mn-lt"/>
              </a:rPr>
              <a:t>Reset gate</a:t>
            </a:r>
            <a:r>
              <a:rPr lang="ru-RU" sz="1400">
                <a:ea typeface="+mn-lt"/>
                <a:cs typeface="+mn-lt"/>
              </a:rPr>
              <a:t> отвечает за то, насколько сильно прошлое скрытое состояние будет участвовать в вычислении нового кандидата на память.</a:t>
            </a:r>
            <a:br>
              <a:rPr lang="ru-RU" sz="1400">
                <a:ea typeface="+mn-lt"/>
                <a:cs typeface="+mn-lt"/>
              </a:rPr>
            </a:br>
            <a:r>
              <a:rPr lang="ru-RU" sz="1400">
                <a:ea typeface="+mn-lt"/>
                <a:cs typeface="+mn-lt"/>
              </a:rPr>
              <a:t> Если reset gate близок к нулю, влияние прошлого почти убирается.</a:t>
            </a:r>
            <a:br>
              <a:rPr lang="ru-RU" sz="1400">
                <a:ea typeface="+mn-lt"/>
                <a:cs typeface="+mn-lt"/>
              </a:rPr>
            </a:br>
            <a:r>
              <a:rPr lang="ru-RU" sz="1400">
                <a:ea typeface="+mn-lt"/>
                <a:cs typeface="+mn-lt"/>
              </a:rPr>
              <a:t> Если он близок к единице, прошлое состояние учитывается почти полностью.</a:t>
            </a:r>
            <a:endParaRPr lang="ru-RU" sz="1400"/>
          </a:p>
          <a:p>
            <a:endParaRPr lang="ru-RU" sz="1400"/>
          </a:p>
        </p:txBody>
      </p:sp>
      <p:pic>
        <p:nvPicPr>
          <p:cNvPr id="4" name="Рисунок 3" descr="Как работает нейросеть">
            <a:extLst>
              <a:ext uri="{FF2B5EF4-FFF2-40B4-BE49-F238E27FC236}">
                <a16:creationId xmlns:a16="http://schemas.microsoft.com/office/drawing/2014/main" id="{61B7BEFE-91C6-ACFA-8D8C-BFABDF1E0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60246"/>
            <a:ext cx="5150277" cy="256226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2C4E4-FE79-39F1-7B13-8C8523F08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А 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572D17-E0B5-462A-ABEE-07EC9E4E2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578" y="4157344"/>
            <a:ext cx="4036333" cy="6450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Сохранение важного контекста!!!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Нейросеть позволит управлять гаджетами с помощью взгляда">
            <a:extLst>
              <a:ext uri="{FF2B5EF4-FFF2-40B4-BE49-F238E27FC236}">
                <a16:creationId xmlns:a16="http://schemas.microsoft.com/office/drawing/2014/main" id="{871267A5-7A49-965E-7803-79554A3014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9" r="33349" b="1"/>
          <a:stretch>
            <a:fillRect/>
          </a:stretch>
        </p:blipFill>
        <p:spPr>
          <a:xfrm>
            <a:off x="5922492" y="764327"/>
            <a:ext cx="5536001" cy="527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3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661D8-CE93-AFE0-72AF-5E6117D23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ru-RU" sz="4800"/>
              <a:t>Сравнение с другеми архитектурами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F9485B-D3B9-E7FF-A9B2-9D4B20D4C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600"/>
              <a:t>RNN</a:t>
            </a:r>
          </a:p>
          <a:p>
            <a:r>
              <a:rPr lang="ru-RU" sz="3600"/>
              <a:t>GRU</a:t>
            </a:r>
          </a:p>
          <a:p>
            <a:r>
              <a:rPr lang="ru-RU" sz="3600"/>
              <a:t>LSTM</a:t>
            </a:r>
          </a:p>
        </p:txBody>
      </p:sp>
      <p:pic>
        <p:nvPicPr>
          <p:cNvPr id="4" name="Рисунок 3" descr="Китайская нейросеть опустила западный рынок ИИ на триллион долларов |  Digital | Новости | AdIndex.ru">
            <a:extLst>
              <a:ext uri="{FF2B5EF4-FFF2-40B4-BE49-F238E27FC236}">
                <a16:creationId xmlns:a16="http://schemas.microsoft.com/office/drawing/2014/main" id="{44C2C679-92B7-46F0-EFD7-BE63E8EB8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12087"/>
            <a:ext cx="5150277" cy="34585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08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537E8-0721-078C-01A6-6716396C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ru-RU" sz="4800"/>
              <a:t>Итог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59226-8506-6149-90DB-2C8E46662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>
                <a:ea typeface="+mn-lt"/>
                <a:cs typeface="+mn-lt"/>
              </a:rPr>
              <a:t>По сравнению с простой RNN GRU обычно даёт более качественные результаты.</a:t>
            </a:r>
          </a:p>
          <a:p>
            <a:endParaRPr lang="ru-RU" sz="2000">
              <a:ea typeface="+mn-lt"/>
              <a:cs typeface="+mn-lt"/>
            </a:endParaRPr>
          </a:p>
          <a:p>
            <a:r>
              <a:rPr lang="ru-RU" sz="2000">
                <a:ea typeface="+mn-lt"/>
                <a:cs typeface="+mn-lt"/>
              </a:rPr>
              <a:t>По сравнению с LSTM GRU проще и быстрее, но при этом часто показывает сопоставимую точность.</a:t>
            </a:r>
            <a:endParaRPr lang="ru-RU" sz="2000"/>
          </a:p>
        </p:txBody>
      </p:sp>
      <p:pic>
        <p:nvPicPr>
          <p:cNvPr id="5" name="Рисунок 4" descr="File:ChatGPT-Logo.png - Wikimedia Commons">
            <a:extLst>
              <a:ext uri="{FF2B5EF4-FFF2-40B4-BE49-F238E27FC236}">
                <a16:creationId xmlns:a16="http://schemas.microsoft.com/office/drawing/2014/main" id="{4B6E5FD6-3AA3-54E8-5145-70314A75D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2"/>
            <a:ext cx="5150277" cy="289703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169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Архитектура GRU</vt:lpstr>
      <vt:lpstr>Что такое GRU?</vt:lpstr>
      <vt:lpstr>В чём её преимущества в отличии от RNN?</vt:lpstr>
      <vt:lpstr>Что такое Gates?</vt:lpstr>
      <vt:lpstr>А зачем?</vt:lpstr>
      <vt:lpstr>Сравнение с другеми архитектурами</vt:lpstr>
      <vt:lpstr>Итог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72</cp:revision>
  <dcterms:created xsi:type="dcterms:W3CDTF">2026-04-14T03:34:17Z</dcterms:created>
  <dcterms:modified xsi:type="dcterms:W3CDTF">2026-04-14T10:00:21Z</dcterms:modified>
</cp:coreProperties>
</file>